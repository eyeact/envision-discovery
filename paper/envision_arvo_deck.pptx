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ENVISION discovery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CFDDED"/>
                </a:solidFill>
              </a:rPr>
              <a:t>Multi-source harvesting · archive-aware metadata · few-shot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DDED"/>
                </a:solidFill>
              </a:rPr>
              <a:t>ENVISION Portal  ·  EyeACT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0D7"/>
                </a:solidFill>
              </a:rPr>
              <a:t>github.com/EyeACT/envision-discovery   ·   github.com/EyeACT/envision-classifier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A5E"/>
                </a:solidFill>
              </a:rPr>
              <a:t>Method</a:t>
            </a:r>
          </a:p>
        </p:txBody>
      </p:sp>
      <p:pic>
        <p:nvPicPr>
          <p:cNvPr id="3" name="Picture 2" descr="envision_method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5103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Each scientific dataset record (title + description + keywords + file types) is encoded with sentence-transformers/all-mpnet-base-v2 and classified by a SetFit head trained on 891 curated examples (262 EYE_IMAGING, 629 NEGATIVE).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A5E"/>
                </a:solidFill>
              </a:rPr>
              <a:t>Source repositories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Seven public repositories harvested with 47 ophthalmology-specific queries (OCT, fundus, OCTA, retina, glaucoma, macula, choroid, …)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554480"/>
          <a:ext cx="94183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2194560"/>
                <a:gridCol w="1920240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EYE_IMAGING</a:t>
                      </a:r>
                    </a:p>
                  </a:txBody>
                  <a:tcPr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Total records</a:t>
                      </a:r>
                    </a:p>
                  </a:txBody>
                  <a:tcPr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D3A5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Zenodo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1,974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30,501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Figshare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1,827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3,439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53.1%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DataCite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1,172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2,416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48.5%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NIH RePORTER (NEI)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2,737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33.6%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Kaggle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431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968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44.5%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Open Science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2,375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Dryad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88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3A5E"/>
                          </a:solidFill>
                        </a:rPr>
                        <a:t>29.5%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3B6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6,602</a:t>
                      </a:r>
                    </a:p>
                  </a:txBody>
                  <a:tcPr>
                    <a:solidFill>
                      <a:srgbClr val="3B6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42,524</a:t>
                      </a:r>
                    </a:p>
                  </a:txBody>
                  <a:tcPr>
                    <a:solidFill>
                      <a:srgbClr val="3B6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15.5%</a:t>
                      </a:r>
                    </a:p>
                  </a:txBody>
                  <a:tcPr>
                    <a:solidFill>
                      <a:srgbClr val="3B6F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A5E"/>
                </a:solidFill>
              </a:rPr>
              <a:t>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847" y="1097280"/>
            <a:ext cx="5486400" cy="2103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3B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0847" y="123443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D3A5E"/>
                </a:solidFill>
              </a:rPr>
              <a:t>0.961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847" y="1965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6FA8"/>
                </a:solidFill>
              </a:rPr>
              <a:t>test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847" y="2423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binary classification on a held-out 20%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097280"/>
            <a:ext cx="5486400" cy="2103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3B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123443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D3A5E"/>
                </a:solidFill>
              </a:rPr>
              <a:t>0.936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965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6FA8"/>
                </a:solidFill>
              </a:rPr>
              <a:t>EYE_IMAGING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423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precision/recall balanced on the positive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847" y="3520439"/>
            <a:ext cx="5486400" cy="2103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3B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847" y="365759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D3A5E"/>
                </a:solidFill>
              </a:rPr>
              <a:t>90.9%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847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6FA8"/>
                </a:solidFill>
              </a:rPr>
              <a:t>manual spot-check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847" y="4846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30/33 EYE_IMAGING predictions confirmed by hand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3520439"/>
            <a:ext cx="5486400" cy="2103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3B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365759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D3A5E"/>
                </a:solidFill>
              </a:rPr>
              <a:t>891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6FA8"/>
                </a:solidFill>
              </a:rPr>
              <a:t>training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4846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262 EYE_IMAGING + 629 NEGATIVE, manually curated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Ongoing: ophthalmologist Yes/No/I-can't-tell survey on the public EnvisionPortal validation site (100-record batches; inter-rater agreement reported once responses accumulate).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3A5E"/>
                </a:solidFill>
              </a:rPr>
              <a:t>What's actually in the EYE_IMAGING records?</a:t>
            </a:r>
          </a:p>
        </p:txBody>
      </p:sp>
      <p:pic>
        <p:nvPicPr>
          <p:cNvPr id="3" name="Picture 2" descr="envision_filetyp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7772400" cy="49051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28016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D3A5E"/>
                </a:solidFill>
              </a:rPr>
              <a:t>Allow-list curated for clinical eye-imaging:</a:t>
            </a:r>
          </a:p>
          <a:p>
            <a:r>
              <a:rPr sz="1200" b="0" i="0">
                <a:solidFill>
                  <a:srgbClr val="555555"/>
                </a:solidFill>
              </a:rPr>
              <a:t>JPEG / PNG / TIFF / BMP — fundus, OCT exports</a:t>
            </a:r>
          </a:p>
          <a:p>
            <a:r>
              <a:rPr sz="1200" b="0" i="0">
                <a:solidFill>
                  <a:srgbClr val="555555"/>
                </a:solidFill>
              </a:rPr>
              <a:t>DICOM (.dcm) — medical imaging standard</a:t>
            </a:r>
          </a:p>
          <a:p>
            <a:r>
              <a:rPr sz="1200" b="0" i="0">
                <a:solidFill>
                  <a:srgbClr val="555555"/>
                </a:solidFill>
              </a:rPr>
              <a:t>OCT-native (.e2e Heidelberg, .oct)</a:t>
            </a:r>
          </a:p>
          <a:p>
            <a:r>
              <a:rPr sz="1200" b="0" i="0">
                <a:solidFill>
                  <a:srgbClr val="555555"/>
                </a:solidFill>
              </a:rPr>
              <a:t>Video (.mp4 / .mov / .avi / .cine) — slit-lamp, OCTA</a:t>
            </a:r>
          </a:p>
          <a:p>
            <a:r>
              <a:rPr sz="1200" b="0" i="0">
                <a:solidFill>
                  <a:srgbClr val="555555"/>
                </a:solidFill>
              </a:rPr>
              <a:t>Medical volume (.nii / .mha)</a:t>
            </a:r>
          </a:p>
          <a:p>
            <a:r>
              <a:rPr sz="1200" b="0" i="0">
                <a:solidFill>
                  <a:srgbClr val="555555"/>
                </a:solidFill>
              </a:rPr>
              <a:t>MATLAB (.mat) — common OCT array container</a:t>
            </a:r>
          </a:p>
          <a:p>
            <a:r>
              <a:rPr sz="1200" b="0" i="0">
                <a:solidFill>
                  <a:srgbClr val="555555"/>
                </a:solidFill>
              </a:rPr>
              <a:t/>
            </a:r>
          </a:p>
          <a:p>
            <a:r>
              <a:rPr sz="1200" b="0" i="1">
                <a:solidFill>
                  <a:srgbClr val="555555"/>
                </a:solidFill>
              </a:rPr>
              <a:t>Excluded: documents, archives, code, microscopy (.lsm/.lif/.czi/…), animations (.gif/.eps/.svg).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127" y="164592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5127" y="2194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D3A5E"/>
                </a:solidFill>
              </a:rPr>
              <a:t>42,524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127" y="38404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records harvested across 7 repositories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487" y="164592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8487" y="2194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D3A5E"/>
                </a:solidFill>
              </a:rPr>
              <a:t>6,602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38404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classified EYE_IMAGING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1847" y="164592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847" y="2194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D3A5E"/>
                </a:solidFill>
              </a:rPr>
              <a:t>1,896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38404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currently registered on EnvisionPortal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FDDED"/>
                </a:solidFill>
              </a:rPr>
              <a:t>Difference between 6,602 and 1,896: ENVISION classifies the full harvested corpus; EnvisionPortal currently shows the records that have been ingested through its data-conversion pipeline (in progress).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