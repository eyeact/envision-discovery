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ENVISION: Eye Imaging Dataset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96D6"/>
                </a:solidFill>
              </a:defRPr>
            </a:pPr>
            <a:r>
              <a:t>Model Overview for Human Expert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303520" cy="43891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2200" b="1">
                <a:solidFill>
                  <a:srgbClr val="0096D6"/>
                </a:solidFill>
              </a:defRPr>
            </a:pPr>
            <a:r>
              <a:t>What Model?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SetFit (Sentence Transformer Fine-Tuning)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Few-shot framework from Hugging Face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Backbone: Alibaba-NLP/gte-large-en-v1.5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1024-dim embeddings, 8K token context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4-Class Output: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EYE_IMAGING  —  actual imaging datasets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EYE_SOFTWARE  —  code, models, tools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EDGE_CASE  —  papers, reviews, borderline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NEGATIVE  —  unrelated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303520" cy="43891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2200" b="1">
                <a:solidFill>
                  <a:srgbClr val="0096D6"/>
                </a:solidFill>
              </a:defRPr>
            </a:pPr>
            <a:r>
              <a:t>Why SetFit?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Few-shot learning  —  works with small training sets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Only 452 curated examples needed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No prompting or generation  —  pure embedding + head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Fast inference, deterministic, no hallucination risk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Confidence scores  —  calibrated class probabilities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Supports threshold-based review workflows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Input = text metadata only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Title + description + keywords → classification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No image download or processing required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Training &amp; Validation Approach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2200" b="1">
                <a:solidFill>
                  <a:srgbClr val="0096D6"/>
                </a:solidFill>
              </a:defRPr>
            </a:pPr>
            <a:r>
              <a:t>Training Data (452 examples)</a:t>
            </a:r>
          </a:p>
          <a:p>
            <a:pPr>
              <a:spcBef>
                <a:spcPts val="600"/>
              </a:spcBef>
              <a:defRPr sz="1600" b="1">
                <a:solidFill>
                  <a:srgbClr val="4CAF50"/>
                </a:solidFill>
              </a:defRPr>
            </a:pPr>
            <a:r>
              <a:t>EYE_IMAGING: 99 examples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Known benchmarks (IDRiD, REFUGE, AIROGS, RFMiD, ...)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OCT, OCTA, fundus, corneal, slit-lamp datasets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0096D6"/>
                </a:solidFill>
              </a:defRPr>
            </a:pPr>
            <a:r>
              <a:t>EYE_SOFTWARE: 30 examples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GitHub repos, model weights, toolboxes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9800"/>
                </a:solidFill>
              </a:defRPr>
            </a:pPr>
            <a:r>
              <a:t>EDGE_CASE: 90 examples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Review papers, animal studies, non-imaging eye research</a:t>
            </a:r>
          </a:p>
          <a:p>
            <a:pPr>
              <a:spcBef>
                <a:spcPts val="600"/>
              </a:spcBef>
              <a:defRPr sz="6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F5350"/>
                </a:solidFill>
              </a:defRPr>
            </a:pPr>
            <a:r>
              <a:t>NEGATIVE: 233 examples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Targeted false-positive patterns:</a:t>
            </a:r>
          </a:p>
          <a:p>
            <a:pPr lvl="2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Cardiovascular OCT (IVOCT), industrial OCT/CT</a:t>
            </a:r>
          </a:p>
          <a:p>
            <a:pPr lvl="2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Microscopy, dermoscopy, brain MRI, taxonomy papers</a:t>
            </a:r>
          </a:p>
          <a:p>
            <a:pPr lvl="2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Robotics (hand-eye calibration), acousto-optics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03520" cy="48463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000"/>
              </a:spcAft>
              <a:defRPr sz="2200" b="1">
                <a:solidFill>
                  <a:srgbClr val="0096D6"/>
                </a:solidFill>
              </a:defRPr>
            </a:pPr>
            <a:r>
              <a:t>Validation Approach</a:t>
            </a: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Zenodo dataset corpus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515 records scraped (resource_type=dataset)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Filtered to 514 with actual data files or links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File-type pre-filtering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Only classify records with image/medical/archive files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Exclude genomics-only records (GWAS, RNA-seq)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White paper cross-check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Known datasets from ENVISION Portal paper verified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4CAF50"/>
                </a:solidFill>
              </a:defRPr>
            </a:pPr>
            <a:r>
              <a:t>Next step: human expert evaluation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Experts review EYE_IMAGING predictions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Focus on medium/low confidence for error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Classification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  <a:defRPr sz="2000" b="1">
                <a:solidFill>
                  <a:srgbClr val="0096D6"/>
                </a:solidFill>
              </a:defRPr>
            </a:pPr>
            <a:r>
              <a:t>Zenodo Corpus (514 records)</a:t>
            </a:r>
          </a:p>
          <a:p>
            <a:pPr>
              <a:spcBef>
                <a:spcPts val="600"/>
              </a:spcBef>
              <a:defRPr sz="1800" b="1">
                <a:solidFill>
                  <a:srgbClr val="4CAF50"/>
                </a:solidFill>
              </a:defRPr>
            </a:pPr>
            <a:r>
              <a:t>EYE_IMAGING:    120</a:t>
            </a:r>
          </a:p>
          <a:p>
            <a:pPr>
              <a:spcBef>
                <a:spcPts val="600"/>
              </a:spcBef>
              <a:defRPr sz="1800" b="1">
                <a:solidFill>
                  <a:srgbClr val="0096D6"/>
                </a:solidFill>
              </a:defRPr>
            </a:pPr>
            <a:r>
              <a:t>EYE_SOFTWARE:    66</a:t>
            </a:r>
          </a:p>
          <a:p>
            <a:pPr>
              <a:spcBef>
                <a:spcPts val="600"/>
              </a:spcBef>
              <a:defRPr sz="1800" b="1">
                <a:solidFill>
                  <a:srgbClr val="FF9800"/>
                </a:solidFill>
              </a:defRPr>
            </a:pPr>
            <a:r>
              <a:t>EDGE_CASE:          3</a:t>
            </a:r>
          </a:p>
          <a:p>
            <a:pPr>
              <a:spcBef>
                <a:spcPts val="600"/>
              </a:spcBef>
              <a:defRPr sz="1800" b="1">
                <a:solidFill>
                  <a:srgbClr val="EF5350"/>
                </a:solidFill>
              </a:defRPr>
            </a:pPr>
            <a:r>
              <a:t>NEGATIVE:         325</a:t>
            </a:r>
          </a:p>
          <a:p>
            <a:pPr>
              <a:spcBef>
                <a:spcPts val="600"/>
              </a:spcBef>
              <a:defRPr sz="10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14 records with external dataset links</a:t>
            </a:r>
          </a:p>
          <a:p>
            <a:pPr lvl="1">
              <a:spcBef>
                <a:spcPts val="600"/>
              </a:spcBef>
              <a:defRPr sz="1200" b="0">
                <a:solidFill>
                  <a:srgbClr val="E8ECF1"/>
                </a:solidFill>
              </a:defRPr>
            </a:pPr>
            <a:r>
              <a:t>(GitHub, Kaggle, IEEE DataPort, etc.)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  <a:defRPr sz="2000" b="1">
                <a:solidFill>
                  <a:srgbClr val="0096D6"/>
                </a:solidFill>
              </a:defRPr>
            </a:pPr>
            <a:r>
              <a:t>Confidence (EYE_IMAGING)</a:t>
            </a:r>
          </a:p>
          <a:p>
            <a:pPr>
              <a:spcBef>
                <a:spcPts val="600"/>
              </a:spcBef>
              <a:defRPr sz="1600" b="1">
                <a:solidFill>
                  <a:srgbClr val="4CAF50"/>
                </a:solidFill>
              </a:defRPr>
            </a:pPr>
            <a:r>
              <a:t>High (≥ 0.95):     117  (97.5%)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Strong candidates, likely correct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9800"/>
                </a:solidFill>
              </a:defRPr>
            </a:pPr>
            <a:r>
              <a:t>Medium (0.80–0.95):   2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Likely eye imaging, worth verifying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EF5350"/>
                </a:solidFill>
              </a:defRPr>
            </a:pPr>
            <a:r>
              <a:t>Lower (&lt; 0.80):         1</a:t>
            </a:r>
          </a:p>
          <a:p>
            <a:pPr lvl="1">
              <a:spcBef>
                <a:spcPts val="600"/>
              </a:spcBef>
              <a:defRPr sz="1300" b="0">
                <a:solidFill>
                  <a:srgbClr val="E8ECF1"/>
                </a:solidFill>
              </a:defRPr>
            </a:pPr>
            <a:r>
              <a:t>Manual review recommended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→ Model is decisive: nearly all</a:t>
            </a:r>
          </a:p>
          <a:p>
            <a:pPr>
              <a:spcBef>
                <a:spcPts val="600"/>
              </a:spcBef>
              <a:defRPr sz="1400" b="0">
                <a:solidFill>
                  <a:srgbClr val="FFFFFF"/>
                </a:solidFill>
              </a:defRPr>
            </a:pPr>
            <a:r>
              <a:t>   predictions are high-confidence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566160" cy="484632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Aft>
                <a:spcPts val="1200"/>
              </a:spcAft>
              <a:defRPr sz="2000" b="1">
                <a:solidFill>
                  <a:srgbClr val="0096D6"/>
                </a:solidFill>
              </a:defRPr>
            </a:pPr>
            <a:r>
              <a:t>Before Expert Evaluation</a:t>
            </a:r>
          </a:p>
          <a:p>
            <a:pPr>
              <a:spcBef>
                <a:spcPts val="600"/>
              </a:spcBef>
              <a:defRPr sz="1600" b="1">
                <a:solidFill>
                  <a:srgbClr val="4CAF50"/>
                </a:solidFill>
              </a:defRPr>
            </a:pPr>
            <a:r>
              <a:t>Ready for review: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Standalone classifier API shipped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CLI + Python API available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FFFF"/>
                </a:solidFill>
              </a:defRPr>
            </a:pPr>
            <a:r>
              <a:t>Suggested evaluation plan: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1. Sample from each class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2. Experts label ground truth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3. Measure precision/recall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4. Focus on EYE_IMAGING vs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   EDGE_CASE boundary</a:t>
            </a:r>
          </a:p>
          <a:p>
            <a:pPr>
              <a:spcBef>
                <a:spcPts val="600"/>
              </a:spcBef>
              <a:defRPr sz="800" b="0">
                <a:solidFill>
                  <a:srgbClr val="FFFFFF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FF9800"/>
                </a:solidFill>
              </a:defRPr>
            </a:pPr>
            <a:r>
              <a:t>Open questions: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How many records to review?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How many expert reviewers?</a:t>
            </a:r>
          </a:p>
          <a:p>
            <a:pPr lvl="1">
              <a:spcBef>
                <a:spcPts val="600"/>
              </a:spcBef>
              <a:defRPr sz="1400" b="0">
                <a:solidFill>
                  <a:srgbClr val="E8ECF1"/>
                </a:solidFill>
              </a:defRPr>
            </a:pPr>
            <a:r>
              <a:t>Review tool / annotation format?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